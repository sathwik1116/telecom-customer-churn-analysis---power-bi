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2" r:id="rId14"/>
    <p:sldId id="269" r:id="rId15"/>
    <p:sldId id="268" r:id="rId16"/>
    <p:sldId id="270" r:id="rId17"/>
  </p:sldIdLst>
  <p:sldSz cx="18288000" cy="10287000"/>
  <p:notesSz cx="6858000" cy="9144000"/>
  <p:embeddedFontLst>
    <p:embeddedFont>
      <p:font typeface="Arial Bold" panose="020B0704020202020204" pitchFamily="34" charset="0"/>
      <p:regular r:id="rId19"/>
      <p:bold r:id="rId20"/>
    </p:embeddedFont>
    <p:embeddedFont>
      <p:font typeface="Canva Sans Bold" panose="020B0604020202020204" charset="0"/>
      <p:regular r:id="rId21"/>
    </p:embeddedFont>
    <p:embeddedFont>
      <p:font typeface="Libre Baskerville" panose="02000000000000000000" pitchFamily="2" charset="0"/>
      <p:regular r:id="rId22"/>
    </p:embeddedFont>
    <p:embeddedFont>
      <p:font typeface="Times New Roman Bold" panose="02020803070505020304" pitchFamily="18" charset="0"/>
      <p:regular r:id="rId23"/>
      <p:bold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37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06.01.2026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460233" cy="10287000"/>
          </a:xfrm>
          <a:custGeom>
            <a:avLst/>
            <a:gdLst/>
            <a:ahLst/>
            <a:cxnLst/>
            <a:rect l="l" t="t" r="r" b="b"/>
            <a:pathLst>
              <a:path w="18460233" h="10287000">
                <a:moveTo>
                  <a:pt x="0" y="0"/>
                </a:moveTo>
                <a:lnTo>
                  <a:pt x="18460233" y="0"/>
                </a:lnTo>
                <a:lnTo>
                  <a:pt x="1846023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6350"/>
            <a:ext cx="18288000" cy="10274300"/>
          </a:xfrm>
          <a:custGeom>
            <a:avLst/>
            <a:gdLst/>
            <a:ahLst/>
            <a:cxnLst/>
            <a:rect l="l" t="t" r="r" b="b"/>
            <a:pathLst>
              <a:path w="18288000" h="10274300">
                <a:moveTo>
                  <a:pt x="0" y="0"/>
                </a:moveTo>
                <a:lnTo>
                  <a:pt x="18288000" y="0"/>
                </a:lnTo>
                <a:lnTo>
                  <a:pt x="18288000" y="10274300"/>
                </a:lnTo>
                <a:lnTo>
                  <a:pt x="0" y="102743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9915"/>
            <a:ext cx="18288000" cy="10267170"/>
          </a:xfrm>
          <a:custGeom>
            <a:avLst/>
            <a:gdLst/>
            <a:ahLst/>
            <a:cxnLst/>
            <a:rect l="l" t="t" r="r" b="b"/>
            <a:pathLst>
              <a:path w="18288000" h="10267170">
                <a:moveTo>
                  <a:pt x="0" y="0"/>
                </a:moveTo>
                <a:lnTo>
                  <a:pt x="18288000" y="0"/>
                </a:lnTo>
                <a:lnTo>
                  <a:pt x="18288000" y="10267170"/>
                </a:lnTo>
                <a:lnTo>
                  <a:pt x="0" y="102671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61617" y="1290073"/>
            <a:ext cx="17164765" cy="6105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92"/>
              </a:lnSpc>
            </a:pPr>
            <a:r>
              <a:rPr lang="en-US" sz="366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Telco Customer Churn Analysis</a:t>
            </a:r>
          </a:p>
          <a:p>
            <a:pPr algn="l">
              <a:lnSpc>
                <a:spcPts val="4392"/>
              </a:lnSpc>
            </a:pPr>
            <a:endParaRPr lang="en-US" sz="3660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l">
              <a:lnSpc>
                <a:spcPts val="4392"/>
              </a:lnSpc>
            </a:pPr>
            <a:r>
              <a:rPr lang="en-US" sz="36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Customer churn refers to customers discontinuing services with a company.</a:t>
            </a:r>
          </a:p>
          <a:p>
            <a:pPr algn="l">
              <a:lnSpc>
                <a:spcPts val="4392"/>
              </a:lnSpc>
            </a:pPr>
            <a:r>
              <a:rPr lang="en-US" sz="366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</a:t>
            </a:r>
            <a:r>
              <a:rPr lang="en-US" sz="36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Churn is a major challenge in the highly competitive telecom industry</a:t>
            </a:r>
          </a:p>
          <a:p>
            <a:pPr algn="l">
              <a:lnSpc>
                <a:spcPts val="4392"/>
              </a:lnSpc>
            </a:pPr>
            <a:r>
              <a:rPr lang="en-US" sz="366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</a:t>
            </a:r>
            <a:r>
              <a:rPr lang="en-US" sz="36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Even a small increase in churn can lead to significant revenue loss</a:t>
            </a:r>
          </a:p>
          <a:p>
            <a:pPr algn="l">
              <a:lnSpc>
                <a:spcPts val="4392"/>
              </a:lnSpc>
            </a:pPr>
            <a:r>
              <a:rPr lang="en-US" sz="36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Understanding churn helps companies retain customers and stabilize revenue</a:t>
            </a:r>
          </a:p>
          <a:p>
            <a:pPr algn="l">
              <a:lnSpc>
                <a:spcPts val="4392"/>
              </a:lnSpc>
            </a:pPr>
            <a:endParaRPr lang="en-US" sz="366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392"/>
              </a:lnSpc>
            </a:pPr>
            <a:r>
              <a:rPr lang="en-US" sz="366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This project analyzes:</a:t>
            </a:r>
          </a:p>
          <a:p>
            <a:pPr marL="661954" lvl="1" indent="-330977" algn="l">
              <a:lnSpc>
                <a:spcPts val="4392"/>
              </a:lnSpc>
              <a:buFont typeface="Arial"/>
              <a:buChar char="•"/>
            </a:pPr>
            <a:r>
              <a:rPr lang="en-US" sz="36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Customer behavior</a:t>
            </a:r>
          </a:p>
          <a:p>
            <a:pPr marL="661954" lvl="1" indent="-330977" algn="l">
              <a:lnSpc>
                <a:spcPts val="4392"/>
              </a:lnSpc>
              <a:buFont typeface="Arial"/>
              <a:buChar char="•"/>
            </a:pPr>
            <a:r>
              <a:rPr lang="en-US" sz="36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Service usage Patterns</a:t>
            </a:r>
          </a:p>
          <a:p>
            <a:pPr marL="661954" lvl="1" indent="-330977" algn="l">
              <a:lnSpc>
                <a:spcPts val="4392"/>
              </a:lnSpc>
              <a:buFont typeface="Arial"/>
              <a:buChar char="•"/>
            </a:pPr>
            <a:r>
              <a:rPr lang="en-US" sz="36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Contract and Billing Details</a:t>
            </a:r>
          </a:p>
        </p:txBody>
      </p:sp>
      <p:sp>
        <p:nvSpPr>
          <p:cNvPr id="3" name="Freeform 3"/>
          <p:cNvSpPr/>
          <p:nvPr/>
        </p:nvSpPr>
        <p:spPr>
          <a:xfrm>
            <a:off x="13952725" y="9361634"/>
            <a:ext cx="4335275" cy="925366"/>
          </a:xfrm>
          <a:custGeom>
            <a:avLst/>
            <a:gdLst/>
            <a:ahLst/>
            <a:cxnLst/>
            <a:rect l="l" t="t" r="r" b="b"/>
            <a:pathLst>
              <a:path w="4335275" h="925366">
                <a:moveTo>
                  <a:pt x="0" y="0"/>
                </a:moveTo>
                <a:lnTo>
                  <a:pt x="4335275" y="0"/>
                </a:lnTo>
                <a:lnTo>
                  <a:pt x="4335275" y="925366"/>
                </a:lnTo>
                <a:lnTo>
                  <a:pt x="0" y="9253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698768" y="-28575"/>
            <a:ext cx="4444008" cy="9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  <a:spcBef>
                <a:spcPct val="0"/>
              </a:spcBef>
            </a:pPr>
            <a:r>
              <a:rPr lang="en-US" sz="6000" b="1">
                <a:solidFill>
                  <a:srgbClr val="FF0000"/>
                </a:solidFill>
                <a:latin typeface="Arial Bold"/>
                <a:ea typeface="Arial Bold"/>
                <a:cs typeface="Arial Bold"/>
                <a:sym typeface="Arial Bold"/>
              </a:rPr>
              <a:t>Introduction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86210" y="415807"/>
            <a:ext cx="6976550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  <a:spcBef>
                <a:spcPct val="0"/>
              </a:spcBef>
            </a:pPr>
            <a:r>
              <a:rPr lang="en-US" sz="5400" b="1">
                <a:solidFill>
                  <a:srgbClr val="FF0000"/>
                </a:solidFill>
                <a:latin typeface="Arial Bold"/>
                <a:ea typeface="Arial Bold"/>
                <a:cs typeface="Arial Bold"/>
                <a:sym typeface="Arial Bold"/>
              </a:rPr>
              <a:t>Business Problem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29784" y="2033587"/>
            <a:ext cx="17828431" cy="6924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06383" lvl="1" indent="-403192">
              <a:lnSpc>
                <a:spcPts val="4481"/>
              </a:lnSpc>
              <a:buFont typeface="Arial"/>
              <a:buChar char="•"/>
            </a:pPr>
            <a:r>
              <a:rPr lang="en-US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Telecom companies are facing </a:t>
            </a:r>
            <a:r>
              <a:rPr lang="en-US" sz="3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declining revenue stability</a:t>
            </a:r>
            <a:r>
              <a:rPr lang="en-US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due to increasing customer attrition, directly impacting profitability and long-term growth.</a:t>
            </a:r>
          </a:p>
          <a:p>
            <a:pPr marL="403191" lvl="1">
              <a:lnSpc>
                <a:spcPts val="4481"/>
              </a:lnSpc>
            </a:pPr>
            <a:endParaRPr lang="en-US" sz="3734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06383" lvl="1" indent="-403192">
              <a:lnSpc>
                <a:spcPts val="4481"/>
              </a:lnSpc>
              <a:buFont typeface="Arial"/>
              <a:buChar char="•"/>
            </a:pPr>
            <a:r>
              <a:rPr lang="en-US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customer churn is causing </a:t>
            </a:r>
            <a:r>
              <a:rPr lang="en-US" sz="3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of recurring revenue and reduced customer lifetime value</a:t>
            </a:r>
            <a:r>
              <a:rPr lang="en-US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it difficult for businesses to sustain predictable income.</a:t>
            </a:r>
          </a:p>
          <a:p>
            <a:pPr marL="403191" lvl="1">
              <a:lnSpc>
                <a:spcPts val="4481"/>
              </a:lnSpc>
            </a:pPr>
            <a:endParaRPr lang="en-US" sz="3734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06383" lvl="1" indent="-403192">
              <a:lnSpc>
                <a:spcPts val="4481"/>
              </a:lnSpc>
              <a:buFont typeface="Arial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Businesses lack clear visibility into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customers are churning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the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factors driving churn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03191" lvl="1">
              <a:lnSpc>
                <a:spcPts val="4481"/>
              </a:lnSpc>
            </a:pPr>
            <a:endParaRPr lang="en-US" sz="3734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806383" lvl="1" indent="-403192">
              <a:lnSpc>
                <a:spcPts val="4481"/>
              </a:lnSpc>
              <a:buFont typeface="Arial"/>
              <a:buChar char="•"/>
            </a:pPr>
            <a:r>
              <a:rPr lang="en-US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this visibility, organizations are unable to </a:t>
            </a:r>
            <a:r>
              <a:rPr lang="en-US" sz="3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high-risk customers early</a:t>
            </a:r>
            <a:r>
              <a:rPr lang="en-US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evaluate the </a:t>
            </a:r>
            <a:r>
              <a:rPr lang="en-US" sz="3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of churn on revenue</a:t>
            </a:r>
            <a:r>
              <a:rPr lang="en-US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design </a:t>
            </a:r>
            <a:r>
              <a:rPr lang="en-US" sz="3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data-driven retention strategies</a:t>
            </a:r>
            <a:r>
              <a:rPr lang="en-US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700" b="1" dirty="0">
              <a:solidFill>
                <a:srgbClr val="000000"/>
              </a:solidFill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3952725" y="9361634"/>
            <a:ext cx="4335275" cy="925366"/>
          </a:xfrm>
          <a:custGeom>
            <a:avLst/>
            <a:gdLst/>
            <a:ahLst/>
            <a:cxnLst/>
            <a:rect l="l" t="t" r="r" b="b"/>
            <a:pathLst>
              <a:path w="4335275" h="925366">
                <a:moveTo>
                  <a:pt x="0" y="0"/>
                </a:moveTo>
                <a:lnTo>
                  <a:pt x="4335275" y="0"/>
                </a:lnTo>
                <a:lnTo>
                  <a:pt x="4335275" y="925366"/>
                </a:lnTo>
                <a:lnTo>
                  <a:pt x="0" y="9253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1716" y="0"/>
            <a:ext cx="1524493" cy="1422601"/>
          </a:xfrm>
          <a:custGeom>
            <a:avLst/>
            <a:gdLst/>
            <a:ahLst/>
            <a:cxnLst/>
            <a:rect l="l" t="t" r="r" b="b"/>
            <a:pathLst>
              <a:path w="1524493" h="1422601">
                <a:moveTo>
                  <a:pt x="0" y="0"/>
                </a:moveTo>
                <a:lnTo>
                  <a:pt x="1524494" y="0"/>
                </a:lnTo>
                <a:lnTo>
                  <a:pt x="1524494" y="1422601"/>
                </a:lnTo>
                <a:lnTo>
                  <a:pt x="0" y="14226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485" r="-7869" b="-13109"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68600" y="180975"/>
            <a:ext cx="3278148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  <a:spcBef>
                <a:spcPct val="0"/>
              </a:spcBef>
            </a:pPr>
            <a:r>
              <a:rPr lang="en-US" sz="5400" b="1">
                <a:solidFill>
                  <a:srgbClr val="FF0000"/>
                </a:solidFill>
                <a:latin typeface="Arial Bold"/>
                <a:ea typeface="Arial Bold"/>
                <a:cs typeface="Arial Bold"/>
                <a:sym typeface="Arial Bold"/>
              </a:rPr>
              <a:t>Objective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68600" y="1552043"/>
            <a:ext cx="17162079" cy="7115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41013" lvl="1" indent="-420506" algn="l">
              <a:lnSpc>
                <a:spcPts val="4674"/>
              </a:lnSpc>
              <a:buFont typeface="Arial"/>
              <a:buChar char="•"/>
            </a:pPr>
            <a:r>
              <a:rPr lang="en-US" sz="38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analyze customer churn patterns across different customer segments.</a:t>
            </a:r>
          </a:p>
          <a:p>
            <a:pPr algn="l">
              <a:lnSpc>
                <a:spcPts val="4674"/>
              </a:lnSpc>
            </a:pPr>
            <a:endParaRPr lang="en-US" sz="389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41013" lvl="1" indent="-420506" algn="l">
              <a:lnSpc>
                <a:spcPts val="4674"/>
              </a:lnSpc>
              <a:buFont typeface="Arial"/>
              <a:buChar char="•"/>
            </a:pPr>
            <a:r>
              <a:rPr lang="en-US" sz="38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identify key factors influencing churn, such as contract type, tenure, services, and billing methods.</a:t>
            </a:r>
          </a:p>
          <a:p>
            <a:pPr algn="l">
              <a:lnSpc>
                <a:spcPts val="4674"/>
              </a:lnSpc>
            </a:pPr>
            <a:endParaRPr lang="en-US" sz="389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41013" lvl="1" indent="-420506" algn="l">
              <a:lnSpc>
                <a:spcPts val="4674"/>
              </a:lnSpc>
              <a:buFont typeface="Arial"/>
              <a:buChar char="•"/>
            </a:pPr>
            <a:r>
              <a:rPr lang="en-US" sz="38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measure the impact of churn on revenue and customer retention.</a:t>
            </a:r>
          </a:p>
          <a:p>
            <a:pPr algn="l">
              <a:lnSpc>
                <a:spcPts val="4674"/>
              </a:lnSpc>
            </a:pPr>
            <a:endParaRPr lang="en-US" sz="389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41013" lvl="1" indent="-420506" algn="l">
              <a:lnSpc>
                <a:spcPts val="4674"/>
              </a:lnSpc>
              <a:buFont typeface="Arial"/>
              <a:buChar char="•"/>
            </a:pPr>
            <a:r>
              <a:rPr lang="en-US" sz="38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build an interactive churn analysis dashboard using Power BI for business users.</a:t>
            </a:r>
          </a:p>
          <a:p>
            <a:pPr algn="l">
              <a:lnSpc>
                <a:spcPts val="4674"/>
              </a:lnSpc>
            </a:pPr>
            <a:endParaRPr lang="en-US" sz="389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41013" lvl="1" indent="-420506" algn="l">
              <a:lnSpc>
                <a:spcPts val="4674"/>
              </a:lnSpc>
              <a:buFont typeface="Arial"/>
              <a:buChar char="•"/>
            </a:pPr>
            <a:r>
              <a:rPr lang="en-US" sz="38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support data-driven decision making by providing actionable insights to reduce churn.</a:t>
            </a:r>
          </a:p>
        </p:txBody>
      </p:sp>
      <p:sp>
        <p:nvSpPr>
          <p:cNvPr id="4" name="Freeform 4"/>
          <p:cNvSpPr/>
          <p:nvPr/>
        </p:nvSpPr>
        <p:spPr>
          <a:xfrm>
            <a:off x="13952725" y="9361634"/>
            <a:ext cx="4335275" cy="925366"/>
          </a:xfrm>
          <a:custGeom>
            <a:avLst/>
            <a:gdLst/>
            <a:ahLst/>
            <a:cxnLst/>
            <a:rect l="l" t="t" r="r" b="b"/>
            <a:pathLst>
              <a:path w="4335275" h="925366">
                <a:moveTo>
                  <a:pt x="0" y="0"/>
                </a:moveTo>
                <a:lnTo>
                  <a:pt x="4335275" y="0"/>
                </a:lnTo>
                <a:lnTo>
                  <a:pt x="4335275" y="925366"/>
                </a:lnTo>
                <a:lnTo>
                  <a:pt x="0" y="9253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25921" y="1481305"/>
            <a:ext cx="17162079" cy="6543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4"/>
              </a:lnSpc>
            </a:pPr>
            <a:r>
              <a:rPr lang="en-US" sz="35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dataset represents telecom customer data with churn outcomes.</a:t>
            </a:r>
          </a:p>
          <a:p>
            <a:pPr algn="l">
              <a:lnSpc>
                <a:spcPts val="4314"/>
              </a:lnSpc>
            </a:pPr>
            <a:r>
              <a:rPr lang="en-US" sz="35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row corresponds to a unique customer.</a:t>
            </a:r>
          </a:p>
          <a:p>
            <a:pPr algn="l">
              <a:lnSpc>
                <a:spcPts val="4314"/>
              </a:lnSpc>
            </a:pPr>
            <a:endParaRPr lang="en-US" sz="359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314"/>
              </a:lnSpc>
            </a:pPr>
            <a:r>
              <a:rPr lang="en-US" sz="3595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dataset includes:</a:t>
            </a:r>
          </a:p>
          <a:p>
            <a:pPr marL="776244" lvl="1" indent="-388122" algn="l">
              <a:lnSpc>
                <a:spcPts val="4314"/>
              </a:lnSpc>
              <a:buFont typeface="Arial"/>
              <a:buChar char="•"/>
            </a:pPr>
            <a:r>
              <a:rPr lang="en-US" sz="35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Demographic details (gender, senior citizen, dependents)</a:t>
            </a:r>
          </a:p>
          <a:p>
            <a:pPr marL="776244" lvl="1" indent="-388122" algn="l">
              <a:lnSpc>
                <a:spcPts val="4314"/>
              </a:lnSpc>
              <a:buFont typeface="Arial"/>
              <a:buChar char="•"/>
            </a:pPr>
            <a:r>
              <a:rPr lang="en-US" sz="35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Service subscriptions (internet, phone, add-ons)</a:t>
            </a:r>
          </a:p>
          <a:p>
            <a:pPr marL="776244" lvl="1" indent="-388122" algn="l">
              <a:lnSpc>
                <a:spcPts val="4314"/>
              </a:lnSpc>
              <a:buFont typeface="Arial"/>
              <a:buChar char="•"/>
            </a:pPr>
            <a:r>
              <a:rPr lang="en-US" sz="35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Billing and contract information</a:t>
            </a:r>
          </a:p>
          <a:p>
            <a:pPr marL="776244" lvl="1" indent="-388122" algn="l">
              <a:lnSpc>
                <a:spcPts val="4314"/>
              </a:lnSpc>
              <a:buFont typeface="Arial"/>
              <a:buChar char="•"/>
            </a:pPr>
            <a:r>
              <a:rPr lang="en-US" sz="35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Churn indicator (Yes / No)</a:t>
            </a:r>
          </a:p>
          <a:p>
            <a:pPr algn="l">
              <a:lnSpc>
                <a:spcPts val="4314"/>
              </a:lnSpc>
            </a:pPr>
            <a:endParaRPr lang="en-US" sz="359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314"/>
              </a:lnSpc>
            </a:pPr>
            <a:r>
              <a:rPr lang="en-US" sz="35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7,043 customers with active and churned status</a:t>
            </a:r>
          </a:p>
          <a:p>
            <a:pPr algn="l">
              <a:lnSpc>
                <a:spcPts val="4314"/>
              </a:lnSpc>
            </a:pPr>
            <a:endParaRPr lang="en-US" sz="359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314"/>
              </a:lnSpc>
            </a:pPr>
            <a:r>
              <a:rPr lang="en-US" sz="35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Churn identified as the target variable</a:t>
            </a:r>
          </a:p>
        </p:txBody>
      </p:sp>
      <p:sp>
        <p:nvSpPr>
          <p:cNvPr id="3" name="Freeform 3"/>
          <p:cNvSpPr/>
          <p:nvPr/>
        </p:nvSpPr>
        <p:spPr>
          <a:xfrm>
            <a:off x="13952725" y="9361634"/>
            <a:ext cx="4335275" cy="925366"/>
          </a:xfrm>
          <a:custGeom>
            <a:avLst/>
            <a:gdLst/>
            <a:ahLst/>
            <a:cxnLst/>
            <a:rect l="l" t="t" r="r" b="b"/>
            <a:pathLst>
              <a:path w="4335275" h="925366">
                <a:moveTo>
                  <a:pt x="0" y="0"/>
                </a:moveTo>
                <a:lnTo>
                  <a:pt x="4335275" y="0"/>
                </a:lnTo>
                <a:lnTo>
                  <a:pt x="4335275" y="925366"/>
                </a:lnTo>
                <a:lnTo>
                  <a:pt x="0" y="9253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5400000">
            <a:off x="488368" y="1674786"/>
            <a:ext cx="326304" cy="285516"/>
            <a:chOff x="0" y="0"/>
            <a:chExt cx="812800" cy="711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0" y="180975"/>
            <a:ext cx="5838517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  <a:spcBef>
                <a:spcPct val="0"/>
              </a:spcBef>
            </a:pPr>
            <a:r>
              <a:rPr lang="en-US" sz="5400" b="1">
                <a:solidFill>
                  <a:srgbClr val="FF0000"/>
                </a:solidFill>
                <a:latin typeface="Arial Bold"/>
                <a:ea typeface="Arial Bold"/>
                <a:cs typeface="Arial Bold"/>
                <a:sym typeface="Arial Bold"/>
              </a:rPr>
              <a:t>Dataset Overview</a:t>
            </a:r>
          </a:p>
        </p:txBody>
      </p:sp>
      <p:grpSp>
        <p:nvGrpSpPr>
          <p:cNvPr id="8" name="Group 8"/>
          <p:cNvGrpSpPr/>
          <p:nvPr/>
        </p:nvGrpSpPr>
        <p:grpSpPr>
          <a:xfrm rot="5400000">
            <a:off x="488368" y="2152338"/>
            <a:ext cx="326304" cy="285516"/>
            <a:chOff x="0" y="0"/>
            <a:chExt cx="812800" cy="7112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5400000">
            <a:off x="488368" y="6495587"/>
            <a:ext cx="326304" cy="285516"/>
            <a:chOff x="0" y="0"/>
            <a:chExt cx="812800" cy="71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 rot="5400000">
            <a:off x="488368" y="7569436"/>
            <a:ext cx="326304" cy="285516"/>
            <a:chOff x="0" y="0"/>
            <a:chExt cx="812800" cy="7112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BD09F2D-C23E-28A2-5B15-C10E024315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36F7DA-ACAD-D69D-37BB-F657456999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146"/>
            <a:ext cx="18287999" cy="1030329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A68DDE2-952F-21E7-39EC-7BDCCA1C14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C6A2884-1BDD-DB4D-E450-9EBAC50EF2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" y="0"/>
            <a:ext cx="18291531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38200" y="1866900"/>
            <a:ext cx="17329280" cy="3032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806"/>
              </a:lnSpc>
              <a:spcBef>
                <a:spcPct val="0"/>
              </a:spcBef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Churn is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among customers with 0–12 months tenure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early-stage retention issues</a:t>
            </a:r>
          </a:p>
          <a:p>
            <a:pPr>
              <a:lnSpc>
                <a:spcPts val="4806"/>
              </a:lnSpc>
              <a:spcBef>
                <a:spcPct val="0"/>
              </a:spcBef>
            </a:pPr>
            <a:endParaRPr lang="en-US" sz="3433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/>
            </a:endParaRPr>
          </a:p>
          <a:p>
            <a:pPr>
              <a:lnSpc>
                <a:spcPts val="4806"/>
              </a:lnSpc>
              <a:spcBef>
                <a:spcPct val="0"/>
              </a:spcBef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Churn rate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declines consistently as tenure increases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showing long-term customers are more stable</a:t>
            </a:r>
            <a:endParaRPr lang="en-US" sz="3433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" name="Group 3"/>
          <p:cNvGrpSpPr/>
          <p:nvPr/>
        </p:nvGrpSpPr>
        <p:grpSpPr>
          <a:xfrm rot="5400000">
            <a:off x="275794" y="2048028"/>
            <a:ext cx="309678" cy="270968"/>
            <a:chOff x="0" y="0"/>
            <a:chExt cx="812800" cy="711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86898" y="36537"/>
            <a:ext cx="3699867" cy="856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59"/>
              </a:lnSpc>
              <a:spcBef>
                <a:spcPct val="0"/>
              </a:spcBef>
            </a:pPr>
            <a:r>
              <a:rPr lang="en-US" sz="4899" b="1">
                <a:solidFill>
                  <a:srgbClr val="F12022"/>
                </a:solidFill>
                <a:latin typeface="Arial Bold"/>
                <a:ea typeface="Arial Bold"/>
                <a:cs typeface="Arial Bold"/>
                <a:sym typeface="Arial Bold"/>
              </a:rPr>
              <a:t>Key Insights</a:t>
            </a:r>
          </a:p>
        </p:txBody>
      </p:sp>
      <p:grpSp>
        <p:nvGrpSpPr>
          <p:cNvPr id="7" name="Group 7"/>
          <p:cNvGrpSpPr/>
          <p:nvPr/>
        </p:nvGrpSpPr>
        <p:grpSpPr>
          <a:xfrm rot="5400000">
            <a:off x="299988" y="3937693"/>
            <a:ext cx="309678" cy="270968"/>
            <a:chOff x="0" y="0"/>
            <a:chExt cx="812800" cy="7112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 rot="5400000">
            <a:off x="312753" y="6257327"/>
            <a:ext cx="309678" cy="270968"/>
            <a:chOff x="0" y="0"/>
            <a:chExt cx="812800" cy="711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 rot="5400000">
            <a:off x="299988" y="8031251"/>
            <a:ext cx="309678" cy="270968"/>
            <a:chOff x="0" y="0"/>
            <a:chExt cx="812800" cy="7112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86898" y="1191979"/>
            <a:ext cx="8804702" cy="5615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619"/>
              </a:lnSpc>
              <a:spcBef>
                <a:spcPct val="0"/>
              </a:spcBef>
            </a:pPr>
            <a:r>
              <a:rPr lang="en-IN" sz="3200" u="sng" dirty="0">
                <a:latin typeface="Canva Sans Bold" panose="020B0604020202020204" charset="0"/>
              </a:rPr>
              <a:t>Customer Overview &amp; Churn Summary</a:t>
            </a:r>
            <a:endParaRPr lang="en-US" sz="3200" b="1" u="sng" dirty="0">
              <a:solidFill>
                <a:srgbClr val="000000"/>
              </a:solidFill>
              <a:latin typeface="Canva Sans Bold" panose="020B0604020202020204" charset="0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20" name="Freeform 20"/>
          <p:cNvSpPr/>
          <p:nvPr/>
        </p:nvSpPr>
        <p:spPr>
          <a:xfrm>
            <a:off x="13952725" y="9361634"/>
            <a:ext cx="4335275" cy="925366"/>
          </a:xfrm>
          <a:custGeom>
            <a:avLst/>
            <a:gdLst/>
            <a:ahLst/>
            <a:cxnLst/>
            <a:rect l="l" t="t" r="r" b="b"/>
            <a:pathLst>
              <a:path w="4335275" h="925366">
                <a:moveTo>
                  <a:pt x="0" y="0"/>
                </a:moveTo>
                <a:lnTo>
                  <a:pt x="4335275" y="0"/>
                </a:lnTo>
                <a:lnTo>
                  <a:pt x="4335275" y="925366"/>
                </a:lnTo>
                <a:lnTo>
                  <a:pt x="0" y="9253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8" name="TextBox 19">
            <a:extLst>
              <a:ext uri="{FF2B5EF4-FFF2-40B4-BE49-F238E27FC236}">
                <a16:creationId xmlns:a16="http://schemas.microsoft.com/office/drawing/2014/main" id="{DC26B389-FB73-EFA9-7959-6AE62E78CE87}"/>
              </a:ext>
            </a:extLst>
          </p:cNvPr>
          <p:cNvSpPr txBox="1"/>
          <p:nvPr/>
        </p:nvSpPr>
        <p:spPr>
          <a:xfrm>
            <a:off x="199598" y="5054823"/>
            <a:ext cx="8804702" cy="5502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619"/>
              </a:lnSpc>
              <a:spcBef>
                <a:spcPct val="0"/>
              </a:spcBef>
            </a:pPr>
            <a:r>
              <a:rPr lang="en-IN" sz="3200" b="1" u="sng" dirty="0">
                <a:latin typeface="Canva Sans Bold" panose="020B0604020202020204" charset="0"/>
              </a:rPr>
              <a:t>Service Subscription Analysis</a:t>
            </a:r>
            <a:endParaRPr lang="en-US" sz="3200" b="1" u="sng" dirty="0">
              <a:solidFill>
                <a:srgbClr val="000000"/>
              </a:solidFill>
              <a:latin typeface="Canva Sans Bold" panose="020B0604020202020204" charset="0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30" name="TextBox 2">
            <a:extLst>
              <a:ext uri="{FF2B5EF4-FFF2-40B4-BE49-F238E27FC236}">
                <a16:creationId xmlns:a16="http://schemas.microsoft.com/office/drawing/2014/main" id="{AA05CB6B-B391-86A2-4ABF-56EDAB9661E1}"/>
              </a:ext>
            </a:extLst>
          </p:cNvPr>
          <p:cNvSpPr txBox="1"/>
          <p:nvPr/>
        </p:nvSpPr>
        <p:spPr>
          <a:xfrm>
            <a:off x="838200" y="5990425"/>
            <a:ext cx="17329280" cy="3032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806"/>
              </a:lnSpc>
              <a:spcBef>
                <a:spcPct val="0"/>
              </a:spcBef>
            </a:pPr>
            <a:r>
              <a:rPr lang="en-US" sz="3600" dirty="0"/>
              <a:t>Customers using </a:t>
            </a:r>
            <a:r>
              <a:rPr lang="en-US" sz="3600" b="1" dirty="0"/>
              <a:t>fiber optic internet exhibit the highest churn rates</a:t>
            </a:r>
            <a:r>
              <a:rPr lang="en-US" sz="3600" dirty="0"/>
              <a:t> compared to DSL and non-internet users</a:t>
            </a:r>
          </a:p>
          <a:p>
            <a:pPr>
              <a:lnSpc>
                <a:spcPts val="4806"/>
              </a:lnSpc>
              <a:spcBef>
                <a:spcPct val="0"/>
              </a:spcBef>
            </a:pPr>
            <a:endParaRPr lang="en-US" sz="3433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/>
            </a:endParaRPr>
          </a:p>
          <a:p>
            <a:pPr>
              <a:lnSpc>
                <a:spcPts val="4806"/>
              </a:lnSpc>
              <a:spcBef>
                <a:spcPct val="0"/>
              </a:spcBef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Churn rate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declines consistently as tenure increases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showing long-term customers are more stable</a:t>
            </a:r>
            <a:endParaRPr lang="en-US" sz="3433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F1AE7-E9D8-67A0-3F37-D6E92E090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1D4E2D75-AAFC-303A-F125-D884348564B6}"/>
              </a:ext>
            </a:extLst>
          </p:cNvPr>
          <p:cNvSpPr txBox="1"/>
          <p:nvPr/>
        </p:nvSpPr>
        <p:spPr>
          <a:xfrm>
            <a:off x="838200" y="1938239"/>
            <a:ext cx="17329280" cy="2215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Month-to-month contracts show significantly higher churn</a:t>
            </a: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than one-year and two-year contracts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3600" dirty="0">
              <a:latin typeface="Arial" panose="020B0604020202020204" pitchFamily="34" charset="0"/>
            </a:endParaRP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method and paperless billing show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moderate influence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churn behavior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59C92CD7-29CE-8260-6321-1230B5CB2905}"/>
              </a:ext>
            </a:extLst>
          </p:cNvPr>
          <p:cNvGrpSpPr/>
          <p:nvPr/>
        </p:nvGrpSpPr>
        <p:grpSpPr>
          <a:xfrm rot="5400000">
            <a:off x="266785" y="2162881"/>
            <a:ext cx="309678" cy="270968"/>
            <a:chOff x="0" y="0"/>
            <a:chExt cx="812800" cy="71120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D57CEF04-3844-9BD1-A3C5-CCCF69478AC3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E0FE248F-70D2-1B52-FE7C-9859EB3AE7F2}"/>
                </a:ext>
              </a:extLst>
            </p:cNvPr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DE7556DC-F916-2E95-AB3D-C3A4E0355423}"/>
              </a:ext>
            </a:extLst>
          </p:cNvPr>
          <p:cNvSpPr txBox="1"/>
          <p:nvPr/>
        </p:nvSpPr>
        <p:spPr>
          <a:xfrm>
            <a:off x="186898" y="36537"/>
            <a:ext cx="3699867" cy="856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59"/>
              </a:lnSpc>
              <a:spcBef>
                <a:spcPct val="0"/>
              </a:spcBef>
            </a:pPr>
            <a:r>
              <a:rPr lang="en-US" sz="4899" b="1">
                <a:solidFill>
                  <a:srgbClr val="F12022"/>
                </a:solidFill>
                <a:latin typeface="Arial Bold"/>
                <a:ea typeface="Arial Bold"/>
                <a:cs typeface="Arial Bold"/>
                <a:sym typeface="Arial Bold"/>
              </a:rPr>
              <a:t>Key Insights</a:t>
            </a:r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8091ECB5-AED5-5106-C351-63F2736FE97A}"/>
              </a:ext>
            </a:extLst>
          </p:cNvPr>
          <p:cNvGrpSpPr/>
          <p:nvPr/>
        </p:nvGrpSpPr>
        <p:grpSpPr>
          <a:xfrm rot="5400000">
            <a:off x="299988" y="3781966"/>
            <a:ext cx="309678" cy="270968"/>
            <a:chOff x="0" y="0"/>
            <a:chExt cx="812800" cy="7112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AF017B8F-D3F9-DB10-7ED9-3C6F0C5AC002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CAB208A-D930-4EE0-B2D7-C47DF43E9954}"/>
                </a:ext>
              </a:extLst>
            </p:cNvPr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F9549F6B-AE91-5BE8-96A0-74841C4D4C6A}"/>
              </a:ext>
            </a:extLst>
          </p:cNvPr>
          <p:cNvGrpSpPr/>
          <p:nvPr/>
        </p:nvGrpSpPr>
        <p:grpSpPr>
          <a:xfrm rot="5400000">
            <a:off x="286139" y="5969913"/>
            <a:ext cx="309678" cy="270968"/>
            <a:chOff x="0" y="0"/>
            <a:chExt cx="812800" cy="711200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9BF9B7FB-C369-C39D-4BD2-33D7952D4CBC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89B4C000-DCB7-861C-EC20-E89F6B8FCAF6}"/>
                </a:ext>
              </a:extLst>
            </p:cNvPr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AAA6965F-99F5-380D-C954-84F51809A352}"/>
              </a:ext>
            </a:extLst>
          </p:cNvPr>
          <p:cNvGrpSpPr/>
          <p:nvPr/>
        </p:nvGrpSpPr>
        <p:grpSpPr>
          <a:xfrm rot="5400000">
            <a:off x="324182" y="7202439"/>
            <a:ext cx="309678" cy="270968"/>
            <a:chOff x="0" y="0"/>
            <a:chExt cx="812800" cy="711200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928EC1D3-336D-1EA1-2B56-4C2211794A20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9A84F4FA-8D88-F3C3-8535-BC63E9632981}"/>
                </a:ext>
              </a:extLst>
            </p:cNvPr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19">
            <a:extLst>
              <a:ext uri="{FF2B5EF4-FFF2-40B4-BE49-F238E27FC236}">
                <a16:creationId xmlns:a16="http://schemas.microsoft.com/office/drawing/2014/main" id="{26E3C868-B184-557D-4FAF-ECB44C02F547}"/>
              </a:ext>
            </a:extLst>
          </p:cNvPr>
          <p:cNvSpPr txBox="1"/>
          <p:nvPr/>
        </p:nvSpPr>
        <p:spPr>
          <a:xfrm>
            <a:off x="186898" y="1149039"/>
            <a:ext cx="8804702" cy="5502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619"/>
              </a:lnSpc>
              <a:spcBef>
                <a:spcPct val="0"/>
              </a:spcBef>
            </a:pPr>
            <a:r>
              <a:rPr lang="en-IN" sz="3200" b="1" u="sng" dirty="0">
                <a:latin typeface="Canva Sans Bold" panose="020B0604020202020204" charset="0"/>
              </a:rPr>
              <a:t>Contract &amp; Billing Analysis</a:t>
            </a:r>
            <a:endParaRPr lang="en-US" sz="3200" b="1" u="sng" dirty="0">
              <a:solidFill>
                <a:srgbClr val="000000"/>
              </a:solidFill>
              <a:latin typeface="Canva Sans Bold" panose="020B0604020202020204" charset="0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91DE0599-0BAE-D605-5CB2-C057FA0FEEC9}"/>
              </a:ext>
            </a:extLst>
          </p:cNvPr>
          <p:cNvSpPr/>
          <p:nvPr/>
        </p:nvSpPr>
        <p:spPr>
          <a:xfrm>
            <a:off x="13952725" y="9361634"/>
            <a:ext cx="4335275" cy="925366"/>
          </a:xfrm>
          <a:custGeom>
            <a:avLst/>
            <a:gdLst/>
            <a:ahLst/>
            <a:cxnLst/>
            <a:rect l="l" t="t" r="r" b="b"/>
            <a:pathLst>
              <a:path w="4335275" h="925366">
                <a:moveTo>
                  <a:pt x="0" y="0"/>
                </a:moveTo>
                <a:lnTo>
                  <a:pt x="4335275" y="0"/>
                </a:lnTo>
                <a:lnTo>
                  <a:pt x="4335275" y="925366"/>
                </a:lnTo>
                <a:lnTo>
                  <a:pt x="0" y="9253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8" name="TextBox 19">
            <a:extLst>
              <a:ext uri="{FF2B5EF4-FFF2-40B4-BE49-F238E27FC236}">
                <a16:creationId xmlns:a16="http://schemas.microsoft.com/office/drawing/2014/main" id="{E252C42A-CC67-8372-572D-1AD05A1637C4}"/>
              </a:ext>
            </a:extLst>
          </p:cNvPr>
          <p:cNvSpPr txBox="1"/>
          <p:nvPr/>
        </p:nvSpPr>
        <p:spPr>
          <a:xfrm>
            <a:off x="186898" y="4722926"/>
            <a:ext cx="8804702" cy="5502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619"/>
              </a:lnSpc>
              <a:spcBef>
                <a:spcPct val="0"/>
              </a:spcBef>
            </a:pPr>
            <a:r>
              <a:rPr lang="en-IN" sz="3200" b="1" u="sng" dirty="0">
                <a:latin typeface="Canva Sans Bold" panose="020B0604020202020204" charset="0"/>
              </a:rPr>
              <a:t>Churn Drivers &amp; Revenue Impact</a:t>
            </a:r>
            <a:endParaRPr lang="en-US" sz="3200" b="1" u="sng" dirty="0">
              <a:solidFill>
                <a:srgbClr val="000000"/>
              </a:solidFill>
              <a:latin typeface="Canva Sans Bold" panose="020B0604020202020204" charset="0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30" name="TextBox 2">
            <a:extLst>
              <a:ext uri="{FF2B5EF4-FFF2-40B4-BE49-F238E27FC236}">
                <a16:creationId xmlns:a16="http://schemas.microsoft.com/office/drawing/2014/main" id="{14E31086-E948-5CA6-57F3-ABB62CDB3D04}"/>
              </a:ext>
            </a:extLst>
          </p:cNvPr>
          <p:cNvSpPr txBox="1"/>
          <p:nvPr/>
        </p:nvSpPr>
        <p:spPr>
          <a:xfrm>
            <a:off x="825500" y="5753100"/>
            <a:ext cx="17329280" cy="1811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806"/>
              </a:lnSpc>
              <a:spcBef>
                <a:spcPct val="0"/>
              </a:spcBef>
            </a:pPr>
            <a:r>
              <a:rPr lang="en-US" sz="3600" dirty="0"/>
              <a:t>Short-tenure, month-to-month customers contribute to the </a:t>
            </a:r>
            <a:r>
              <a:rPr lang="en-US" sz="3600" b="1" dirty="0"/>
              <a:t>highest churn risk segments</a:t>
            </a:r>
          </a:p>
          <a:p>
            <a:pPr>
              <a:lnSpc>
                <a:spcPts val="4806"/>
              </a:lnSpc>
              <a:spcBef>
                <a:spcPct val="0"/>
              </a:spcBef>
            </a:pPr>
            <a:endParaRPr lang="en-US" sz="3433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/>
            </a:endParaRPr>
          </a:p>
          <a:p>
            <a:pPr>
              <a:lnSpc>
                <a:spcPts val="4806"/>
              </a:lnSpc>
              <a:spcBef>
                <a:spcPct val="0"/>
              </a:spcBef>
            </a:pPr>
            <a:r>
              <a:rPr lang="en-US" sz="3600" dirty="0"/>
              <a:t>Long-term contracts retain </a:t>
            </a:r>
            <a:r>
              <a:rPr lang="en-US" sz="3600" b="1" dirty="0"/>
              <a:t>maximum revenue with minimal churn impact</a:t>
            </a:r>
            <a:endParaRPr lang="en-US" sz="3433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700069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30168" y="751824"/>
            <a:ext cx="17329280" cy="7117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83"/>
              </a:lnSpc>
            </a:pPr>
            <a:endParaRPr dirty="0"/>
          </a:p>
          <a:p>
            <a:pPr algn="l">
              <a:lnSpc>
                <a:spcPts val="5506"/>
              </a:lnSpc>
              <a:spcBef>
                <a:spcPct val="0"/>
              </a:spcBef>
            </a:pPr>
            <a:r>
              <a:rPr lang="en-US" sz="393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analysis successfully identified key churn drivers across customer lifecycle stages.</a:t>
            </a:r>
          </a:p>
          <a:p>
            <a:pPr algn="l">
              <a:lnSpc>
                <a:spcPts val="5506"/>
              </a:lnSpc>
              <a:spcBef>
                <a:spcPct val="0"/>
              </a:spcBef>
            </a:pPr>
            <a:endParaRPr lang="en-US" sz="3933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5506"/>
              </a:lnSpc>
              <a:spcBef>
                <a:spcPct val="0"/>
              </a:spcBef>
            </a:pPr>
            <a:r>
              <a:rPr lang="en-US" sz="393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Contract type, tenure, and service usage are the most influential churn factors.</a:t>
            </a:r>
          </a:p>
          <a:p>
            <a:pPr algn="l">
              <a:lnSpc>
                <a:spcPts val="5506"/>
              </a:lnSpc>
              <a:spcBef>
                <a:spcPct val="0"/>
              </a:spcBef>
            </a:pPr>
            <a:endParaRPr lang="en-US" sz="3933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5506"/>
              </a:lnSpc>
              <a:spcBef>
                <a:spcPct val="0"/>
              </a:spcBef>
            </a:pPr>
            <a:r>
              <a:rPr lang="en-US" sz="393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Revenue-focused churn analysis highlights areas requiring immediate business attention.</a:t>
            </a:r>
          </a:p>
          <a:p>
            <a:pPr algn="l">
              <a:lnSpc>
                <a:spcPts val="5506"/>
              </a:lnSpc>
              <a:spcBef>
                <a:spcPct val="0"/>
              </a:spcBef>
            </a:pPr>
            <a:endParaRPr lang="en-US" sz="3933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5506"/>
              </a:lnSpc>
              <a:spcBef>
                <a:spcPct val="0"/>
              </a:spcBef>
            </a:pPr>
            <a:r>
              <a:rPr lang="en-US" sz="393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Insights from the dashboard support data-driven retention strategies</a:t>
            </a:r>
          </a:p>
        </p:txBody>
      </p:sp>
      <p:grpSp>
        <p:nvGrpSpPr>
          <p:cNvPr id="3" name="Group 3"/>
          <p:cNvGrpSpPr/>
          <p:nvPr/>
        </p:nvGrpSpPr>
        <p:grpSpPr>
          <a:xfrm rot="5400000">
            <a:off x="275927" y="1959184"/>
            <a:ext cx="309678" cy="270968"/>
            <a:chOff x="0" y="0"/>
            <a:chExt cx="812800" cy="711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62576" y="96518"/>
            <a:ext cx="9430936" cy="965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sz="5499" b="1">
                <a:solidFill>
                  <a:srgbClr val="FF0000"/>
                </a:solidFill>
                <a:latin typeface="Arial Bold"/>
                <a:ea typeface="Arial Bold"/>
                <a:cs typeface="Arial Bold"/>
                <a:sym typeface="Arial Bold"/>
              </a:rPr>
              <a:t>Conclusion</a:t>
            </a:r>
          </a:p>
        </p:txBody>
      </p:sp>
      <p:grpSp>
        <p:nvGrpSpPr>
          <p:cNvPr id="7" name="Group 7"/>
          <p:cNvGrpSpPr/>
          <p:nvPr/>
        </p:nvGrpSpPr>
        <p:grpSpPr>
          <a:xfrm rot="5400000">
            <a:off x="275927" y="3919291"/>
            <a:ext cx="309678" cy="270968"/>
            <a:chOff x="0" y="0"/>
            <a:chExt cx="812800" cy="7112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5400000">
            <a:off x="275927" y="7396775"/>
            <a:ext cx="309678" cy="270968"/>
            <a:chOff x="0" y="0"/>
            <a:chExt cx="812800" cy="711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 rot="5400000">
            <a:off x="275927" y="5332881"/>
            <a:ext cx="309678" cy="270968"/>
            <a:chOff x="0" y="0"/>
            <a:chExt cx="812800" cy="711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13952725" y="9361634"/>
            <a:ext cx="4335275" cy="925366"/>
          </a:xfrm>
          <a:custGeom>
            <a:avLst/>
            <a:gdLst/>
            <a:ahLst/>
            <a:cxnLst/>
            <a:rect l="l" t="t" r="r" b="b"/>
            <a:pathLst>
              <a:path w="4335275" h="925366">
                <a:moveTo>
                  <a:pt x="0" y="0"/>
                </a:moveTo>
                <a:lnTo>
                  <a:pt x="4335275" y="0"/>
                </a:lnTo>
                <a:lnTo>
                  <a:pt x="4335275" y="925366"/>
                </a:lnTo>
                <a:lnTo>
                  <a:pt x="0" y="9253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84360" y="914400"/>
            <a:ext cx="17329280" cy="7306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63"/>
              </a:lnSpc>
            </a:pPr>
            <a:endParaRPr lang="en-US" dirty="0"/>
          </a:p>
          <a:p>
            <a:pPr algn="l">
              <a:lnSpc>
                <a:spcPts val="5086"/>
              </a:lnSpc>
              <a:spcBef>
                <a:spcPct val="0"/>
              </a:spcBef>
            </a:pPr>
            <a:r>
              <a:rPr lang="en-US" sz="363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Focus Retention Efforts On Customers Within The First 6–12 Months.</a:t>
            </a:r>
          </a:p>
          <a:p>
            <a:pPr algn="l">
              <a:lnSpc>
                <a:spcPts val="5086"/>
              </a:lnSpc>
              <a:spcBef>
                <a:spcPct val="0"/>
              </a:spcBef>
            </a:pPr>
            <a:endParaRPr lang="en-US" sz="3633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5086"/>
              </a:lnSpc>
              <a:spcBef>
                <a:spcPct val="0"/>
              </a:spcBef>
            </a:pPr>
            <a:r>
              <a:rPr lang="en-US" sz="363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Encourage Customers To Shift From Month-to-month To Long-term Contracts.</a:t>
            </a:r>
          </a:p>
          <a:p>
            <a:pPr algn="l">
              <a:lnSpc>
                <a:spcPts val="5086"/>
              </a:lnSpc>
              <a:spcBef>
                <a:spcPct val="0"/>
              </a:spcBef>
            </a:pPr>
            <a:endParaRPr lang="en-US" sz="3633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5086"/>
              </a:lnSpc>
              <a:spcBef>
                <a:spcPct val="0"/>
              </a:spcBef>
            </a:pPr>
            <a:r>
              <a:rPr lang="en-US" sz="363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Promote Bundled Service Offerings To Increase Customer Engagement.</a:t>
            </a:r>
          </a:p>
          <a:p>
            <a:pPr algn="l">
              <a:lnSpc>
                <a:spcPts val="5086"/>
              </a:lnSpc>
              <a:spcBef>
                <a:spcPct val="0"/>
              </a:spcBef>
            </a:pPr>
            <a:endParaRPr lang="en-US" sz="3633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5086"/>
              </a:lnSpc>
              <a:spcBef>
                <a:spcPct val="0"/>
              </a:spcBef>
            </a:pPr>
            <a:r>
              <a:rPr lang="en-US" sz="363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Review Pricing And Service Quality For Fiber Optic Customers.</a:t>
            </a:r>
          </a:p>
          <a:p>
            <a:pPr algn="l">
              <a:lnSpc>
                <a:spcPts val="5086"/>
              </a:lnSpc>
              <a:spcBef>
                <a:spcPct val="0"/>
              </a:spcBef>
            </a:pPr>
            <a:endParaRPr lang="en-US" sz="3633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5086"/>
              </a:lnSpc>
              <a:spcBef>
                <a:spcPct val="0"/>
              </a:spcBef>
            </a:pPr>
            <a:r>
              <a:rPr lang="en-US" sz="363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Target High-risk Churn Segments With Proactive Retention Strategies.</a:t>
            </a:r>
          </a:p>
          <a:p>
            <a:pPr algn="l">
              <a:lnSpc>
                <a:spcPts val="5086"/>
              </a:lnSpc>
              <a:spcBef>
                <a:spcPct val="0"/>
              </a:spcBef>
            </a:pPr>
            <a:endParaRPr lang="en-US" sz="3633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" name="Group 3"/>
          <p:cNvGrpSpPr/>
          <p:nvPr/>
        </p:nvGrpSpPr>
        <p:grpSpPr>
          <a:xfrm rot="5400000">
            <a:off x="275927" y="1959184"/>
            <a:ext cx="309678" cy="270968"/>
            <a:chOff x="0" y="0"/>
            <a:chExt cx="812800" cy="711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62576" y="96518"/>
            <a:ext cx="9430936" cy="932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19"/>
              </a:lnSpc>
              <a:spcBef>
                <a:spcPct val="0"/>
              </a:spcBef>
            </a:pPr>
            <a:r>
              <a:rPr lang="en-US" sz="5299" b="1">
                <a:solidFill>
                  <a:srgbClr val="FF0000"/>
                </a:solidFill>
                <a:latin typeface="Arial Bold"/>
                <a:ea typeface="Arial Bold"/>
                <a:cs typeface="Arial Bold"/>
                <a:sym typeface="Arial Bold"/>
              </a:rPr>
              <a:t>Business Recommendation</a:t>
            </a:r>
          </a:p>
        </p:txBody>
      </p:sp>
      <p:grpSp>
        <p:nvGrpSpPr>
          <p:cNvPr id="7" name="Group 7"/>
          <p:cNvGrpSpPr/>
          <p:nvPr/>
        </p:nvGrpSpPr>
        <p:grpSpPr>
          <a:xfrm rot="5400000">
            <a:off x="275927" y="3268987"/>
            <a:ext cx="309678" cy="270968"/>
            <a:chOff x="0" y="0"/>
            <a:chExt cx="812800" cy="7112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5400000">
            <a:off x="275927" y="4578791"/>
            <a:ext cx="309678" cy="270968"/>
            <a:chOff x="0" y="0"/>
            <a:chExt cx="812800" cy="711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 rot="5400000">
            <a:off x="275927" y="5802869"/>
            <a:ext cx="309678" cy="270968"/>
            <a:chOff x="0" y="0"/>
            <a:chExt cx="812800" cy="711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 rot="5400000">
            <a:off x="275927" y="7112672"/>
            <a:ext cx="309678" cy="270968"/>
            <a:chOff x="0" y="0"/>
            <a:chExt cx="812800" cy="7112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13952725" y="9361634"/>
            <a:ext cx="4335275" cy="925366"/>
          </a:xfrm>
          <a:custGeom>
            <a:avLst/>
            <a:gdLst/>
            <a:ahLst/>
            <a:cxnLst/>
            <a:rect l="l" t="t" r="r" b="b"/>
            <a:pathLst>
              <a:path w="4335275" h="925366">
                <a:moveTo>
                  <a:pt x="0" y="0"/>
                </a:moveTo>
                <a:lnTo>
                  <a:pt x="4335275" y="0"/>
                </a:lnTo>
                <a:lnTo>
                  <a:pt x="4335275" y="925366"/>
                </a:lnTo>
                <a:lnTo>
                  <a:pt x="0" y="9253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699774" y="2776128"/>
            <a:ext cx="6698466" cy="4251474"/>
          </a:xfrm>
          <a:custGeom>
            <a:avLst/>
            <a:gdLst/>
            <a:ahLst/>
            <a:cxnLst/>
            <a:rect l="l" t="t" r="r" b="b"/>
            <a:pathLst>
              <a:path w="6698466" h="4251474">
                <a:moveTo>
                  <a:pt x="0" y="0"/>
                </a:moveTo>
                <a:lnTo>
                  <a:pt x="6698466" y="0"/>
                </a:lnTo>
                <a:lnTo>
                  <a:pt x="6698466" y="4251474"/>
                </a:lnTo>
                <a:lnTo>
                  <a:pt x="0" y="42514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958321" y="4541501"/>
            <a:ext cx="5309902" cy="1062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</a:p>
        </p:txBody>
      </p:sp>
      <p:sp>
        <p:nvSpPr>
          <p:cNvPr id="4" name="Freeform 4"/>
          <p:cNvSpPr/>
          <p:nvPr/>
        </p:nvSpPr>
        <p:spPr>
          <a:xfrm>
            <a:off x="13952725" y="9361634"/>
            <a:ext cx="4335275" cy="925366"/>
          </a:xfrm>
          <a:custGeom>
            <a:avLst/>
            <a:gdLst/>
            <a:ahLst/>
            <a:cxnLst/>
            <a:rect l="l" t="t" r="r" b="b"/>
            <a:pathLst>
              <a:path w="4335275" h="925366">
                <a:moveTo>
                  <a:pt x="0" y="0"/>
                </a:moveTo>
                <a:lnTo>
                  <a:pt x="4335275" y="0"/>
                </a:lnTo>
                <a:lnTo>
                  <a:pt x="4335275" y="925366"/>
                </a:lnTo>
                <a:lnTo>
                  <a:pt x="0" y="9253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520</Words>
  <Application>Microsoft Office PowerPoint</Application>
  <PresentationFormat>Custom</PresentationFormat>
  <Paragraphs>86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 Bold</vt:lpstr>
      <vt:lpstr>Times New Roman Bold</vt:lpstr>
      <vt:lpstr>Libre Baskerville</vt:lpstr>
      <vt:lpstr>Times New Roman</vt:lpstr>
      <vt:lpstr>Canva Sans Bold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PowerBI Project.pptx</dc:title>
  <dc:creator>sathwik reddy</dc:creator>
  <cp:lastModifiedBy>sathwik reddy</cp:lastModifiedBy>
  <cp:revision>6</cp:revision>
  <dcterms:created xsi:type="dcterms:W3CDTF">2006-08-16T00:00:00Z</dcterms:created>
  <dcterms:modified xsi:type="dcterms:W3CDTF">2026-01-06T09:19:48Z</dcterms:modified>
  <dc:identifier>DAG9QsB3ZbQ</dc:identifier>
</cp:coreProperties>
</file>